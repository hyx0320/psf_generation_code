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2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7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06"/>
        <p:guide pos="28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.png"/><Relationship Id="rId22" Type="http://schemas.openxmlformats.org/officeDocument/2006/relationships/image" Target="../media/image5.png"/><Relationship Id="rId21" Type="http://schemas.openxmlformats.org/officeDocument/2006/relationships/image" Target="../media/image4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image" Target="../media/image15.png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14.png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1371600"/>
            <a:ext cx="5852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光场显微镜 PSF 仿真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600" b="0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层 × 225 视角</a:t>
            </a:r>
            <a:endParaRPr sz="2600" b="0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cover_mosa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143000"/>
            <a:ext cx="4754880" cy="4754880"/>
          </a:xfrm>
          <a:prstGeom prst="rect">
            <a:avLst/>
          </a:prstGeom>
          <a:ln w="9525">
            <a:solidFill>
              <a:srgbClr val="2C3E4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12280" y="60350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950" b="0">
                <a:solidFill>
                  <a:srgbClr val="9EB0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= 0 处 15 × 15 视角点阵（对数显示）</a:t>
            </a:r>
            <a:endParaRPr sz="950" b="0">
              <a:solidFill>
                <a:srgbClr val="9EB0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 是什么，为什么要 101 层</a:t>
            </a:r>
            <a:endParaRPr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373380"/>
            <a:ext cx="352044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648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101</a:t>
            </a:r>
            <a:endParaRPr sz="30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545" y="1013460"/>
            <a:ext cx="301752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层（z 轴索引</a:t>
            </a:r>
            <a:r>
              <a:rPr 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覆盖系统有效景深（</a:t>
            </a:r>
            <a:r>
              <a:rPr lang="en-US" alt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±100μm，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轴向步长 </a:t>
            </a:r>
            <a:r>
              <a:rPr lang="en-US" alt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2μm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符合采样定理。</a:t>
            </a: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34255" y="373380"/>
            <a:ext cx="352044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4648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225</a:t>
            </a:r>
            <a:endParaRPr sz="30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0288" y="1013460"/>
            <a:ext cx="3017520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视角 / 层</a:t>
            </a:r>
            <a:r>
              <a:rPr 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15×15 微透镜阵列，提供充分的视角视差用于解算深度。</a:t>
            </a:r>
            <a:endParaRPr lang="zh-CN" altLang="en-US"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19871" y="373380"/>
            <a:ext cx="3520440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4648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255²</a:t>
            </a:r>
            <a:endParaRPr sz="30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67700" y="967740"/>
            <a:ext cx="3466465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 / 视角</a:t>
            </a:r>
            <a:r>
              <a:rPr 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涵盖约 17 个微透镜视场（</a:t>
            </a:r>
            <a:r>
              <a:rPr lang="en-US" altLang="zh-CN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255×69/15μm255×69/15μm），</a:t>
            </a:r>
            <a:r>
              <a:rPr lang="zh-CN" altLang="en-US" sz="10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保障横向分辨率。</a:t>
            </a:r>
            <a:endParaRPr lang="zh-CN" altLang="en-US" sz="10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" y="1712595"/>
            <a:ext cx="7013575" cy="42938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【物理先验与系统标定】</a:t>
            </a:r>
            <a:endParaRPr lang="zh-CN" altLang="en-US"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点扩散函数（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PSF）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是光场显微系统的前向物理模型，构建了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三维物空间到二维传感器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的映射关系。本项目的 101 层数据构成了三维解卷积算法不可或缺的深度先验字典（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Depth Dictionary），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是实现高保真三维体素反演的前提。</a:t>
            </a:r>
            <a:endParaRPr lang="zh-CN" altLang="en-US"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 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【轴向采样与景深覆盖】</a:t>
            </a:r>
            <a:endParaRPr lang="zh-CN" altLang="en-US"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系统景深（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DOF）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Z∈[−100,+100]μm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依据轴向分辨率与奈奎斯特采样定理，确立 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Δz=2μm 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的采样步长，在逼近轴向衍射极限的同时，平衡了离散化精度与计算显存开销。</a:t>
            </a:r>
            <a:endParaRPr lang="en-US" altLang="zh-CN"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【空间-角度信息复用】</a:t>
            </a:r>
            <a:endParaRPr lang="zh-CN" altLang="en-US"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依托 15×15（225 子孔径）微透镜阵列，实现四维光场（空间-角度域）的离散化。利用各子孔径间的视差约束（</a:t>
            </a:r>
            <a:r>
              <a:rPr lang="en-US" alt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Parallax Constraint），</a:t>
            </a:r>
            <a:r>
              <a:rPr lang="zh-CN" altLang="en-US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重建网络可有效解耦深度信息，突破传统成像的景深限制。</a:t>
            </a:r>
            <a:r>
              <a:rPr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每层 </a:t>
            </a:r>
            <a:r>
              <a:rPr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× 15 = 225 </a:t>
            </a:r>
            <a:r>
              <a:rPr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个视角，每个视角</a:t>
            </a:r>
            <a:r>
              <a:rPr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255 × 255</a:t>
            </a:r>
            <a:r>
              <a:rPr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像素</a:t>
            </a:r>
            <a:r>
              <a:rPr lang="zh-CN" sz="14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endParaRPr sz="14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single_z0_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49" y="1819275"/>
            <a:ext cx="2834640" cy="283464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145655" y="4733290"/>
            <a:ext cx="5045710" cy="365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altLang="zh-CN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= 0 </a:t>
            </a: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中心视角 | 仿真输出 | 对数显示 | 中央 </a:t>
            </a:r>
            <a:r>
              <a:rPr lang="en-US" altLang="zh-CN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61×61 px </a:t>
            </a: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</a:t>
            </a:r>
            <a:endParaRPr lang="zh-CN" altLang="en-US"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0"/>
            <a:ext cx="1106424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zh-CN" altLang="en-US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光场成像本质上是对高维相空间的采样，</a:t>
            </a:r>
            <a:r>
              <a:rPr lang="en-US" altLang="zh-CN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4D</a:t>
            </a:r>
            <a:r>
              <a:rPr lang="zh-CN" altLang="en-US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endParaRPr lang="zh-CN" altLang="en-US"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4" descr="montage_z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1187"/>
            <a:ext cx="4434840" cy="443484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16535" y="5358130"/>
            <a:ext cx="448056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225 个视角（z = 0）· 仿真 · 对数显示</a:t>
            </a:r>
            <a:endParaRPr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49240" y="512953"/>
            <a:ext cx="45720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70575" y="476250"/>
            <a:ext cx="632079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维度一：深度（Z 轴 / Depth Index）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101 层轴向离散化（Depth Discretization）</a:t>
            </a:r>
            <a:endParaRPr lang="en-US" altLang="zh-CN"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06313" y="1101090"/>
            <a:ext cx="566928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基于系统景深（</a:t>
            </a:r>
            <a:r>
              <a:rPr lang="en-US" altLang="zh-CN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DOF），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lang="en-US" altLang="zh-CN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Δz=2μm 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的物理步长对物空间进行等距切片。</a:t>
            </a:r>
            <a:endParaRPr lang="zh-CN" altLang="en-US"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85105" y="1529715"/>
            <a:ext cx="45720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06313" y="1493139"/>
            <a:ext cx="56692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维度</a:t>
            </a:r>
            <a:r>
              <a:rPr lang="zh-CN" altLang="en-US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1600" b="1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（U, V / Angular Domain）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15×15 光场角度域复用（Angular Multiplexing）</a:t>
            </a:r>
            <a:endParaRPr lang="en-US" altLang="zh-CN"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06313" y="2121662"/>
            <a:ext cx="5669280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微透镜阵列将瞳面光场调制为 15×15 的子孔径图像（Sub-aperture Images）。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225 个视角不仅用于捕获二维空间信息，更提供了丰富的视差向量（Parallax Vectors），是下游网络解算三维深度的几何先验。</a:t>
            </a:r>
            <a:endParaRPr lang="zh-CN" altLang="en-US" sz="1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970" y="3286887"/>
            <a:ext cx="45720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42305" y="3250565"/>
            <a:ext cx="5669280" cy="7359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维度三：</a:t>
            </a:r>
            <a:r>
              <a:rPr lang="en-US" altLang="zh-CN" sz="1600" b="1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（X, Y / Spatial Domain）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255×255 空间域重采样（Spatial Resampling）</a:t>
            </a:r>
            <a:endParaRPr lang="en-US" altLang="zh-CN"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lang="en-US" altLang="zh-CN"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42178" y="4009644"/>
            <a:ext cx="5669280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单视角的 2D 像素矩阵。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每个单视角在物理空间上涵盖约 17 个微透镜视场，在单孔径内包含15×15 的虚拟像素（等效 Oversampling Rate 为 5）。该维度定义了 PSF 卷积核的物理尺寸。</a:t>
            </a:r>
            <a:endParaRPr lang="zh-CN" altLang="en-US"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6835" y="5217414"/>
            <a:ext cx="45720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8043" y="5180838"/>
            <a:ext cx="566928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维度四：数据结构（4D Tensor）</a:t>
            </a:r>
            <a:r>
              <a:rPr lang="en-US" altLang="zh-CN"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[Z,X,Y,U,V] 张量化封装（Tensorization）</a:t>
            </a:r>
            <a:endParaRPr lang="en-US" altLang="zh-CN"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lang="en-US" altLang="zh-CN" sz="1600" b="1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78043" y="5836666"/>
            <a:ext cx="5669280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将光场函数 L(x,y,u,v) 离散化为 4D 浮点矩阵（255 x 255 x 15 x 15）。单一 .mat 文件即代表固定深度 Z 下的光场点扩散算子（Light Field PSF Operator），便于直接作为深度学习网络的先验字典输入。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568758"/>
            <a:ext cx="4264025" cy="212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B972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sz="115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 TIFF 按本层最大值归一化 → 跨层亮度不可直接比较</a:t>
            </a:r>
            <a:endParaRPr sz="115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0"/>
            <a:ext cx="1106424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zh-CN" altLang="en-US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从瞳函数到 4</a:t>
            </a:r>
            <a:r>
              <a:rPr lang="en-US" altLang="zh-CN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张量：光场 </a:t>
            </a:r>
            <a:r>
              <a:rPr lang="en-US" altLang="zh-CN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 </a:t>
            </a:r>
            <a:r>
              <a:rPr lang="zh-CN" altLang="en-US"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仿真流水线</a:t>
            </a:r>
            <a:endParaRPr lang="zh-CN" altLang="en-US"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9275" y="484632"/>
            <a:ext cx="2606040" cy="22128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777875" y="612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01</a:t>
            </a:r>
            <a:endParaRPr sz="11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61390" y="58521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物理仿真</a:t>
            </a:r>
            <a:endParaRPr sz="15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764540" y="986790"/>
            <a:ext cx="2176272" cy="871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瞳函数 × 离焦相位 → FFT；乘 MLA 二次相位，菲涅尔传播 f_ml</a:t>
            </a:r>
            <a:endParaRPr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732790" y="2222373"/>
            <a:ext cx="219456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输出：</a:t>
            </a:r>
            <a:r>
              <a:rPr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→ H_z</a:t>
            </a:r>
            <a:r>
              <a:rPr lang="en-US" altLang="zh-CN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(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包含</a:t>
            </a:r>
            <a:r>
              <a:rPr lang="zh-CN" altLang="en-US" sz="1200" b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视差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与</a:t>
            </a:r>
            <a:r>
              <a:rPr lang="zh-CN" altLang="en-US" sz="1200" b="1">
                <a:solidFill>
                  <a:srgbClr val="FF0000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干涉信息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的原始光场矩阵)。</a:t>
            </a:r>
            <a:endParaRPr lang="zh-CN" altLang="en-US" sz="12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3375025" y="484505"/>
            <a:ext cx="2606040" cy="26098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3603371" y="612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02</a:t>
            </a:r>
            <a:endParaRPr sz="11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877691" y="585216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虚拟底片</a:t>
            </a:r>
            <a:endParaRPr sz="15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3603371" y="1008380"/>
            <a:ext cx="2176272" cy="1452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 225 个空间位置不同的子孔径光场，按其物理坐标叠加、投影至一张画布（255×255），形成具有混叠效应的原始多页底片。</a:t>
            </a:r>
            <a:endParaRPr lang="zh-CN" altLang="en-US"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3676015" y="2684145"/>
            <a:ext cx="2194560" cy="278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输出：</a:t>
            </a:r>
            <a:r>
              <a:rPr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→ 225 页 TIFF</a:t>
            </a:r>
            <a:endParaRPr sz="12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6200140" y="484505"/>
            <a:ext cx="2606040" cy="276479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428866" y="612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03</a:t>
            </a:r>
            <a:endParaRPr sz="11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6688455" y="567055"/>
            <a:ext cx="1177290" cy="28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几何重排</a:t>
            </a:r>
            <a:endParaRPr sz="15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6199505" y="855345"/>
            <a:ext cx="2577465" cy="174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真实微透镜阵列存在装配误差。调用 ReAlign 引擎，严格依据 15x15.conf 的空间坐标映射关系，对混叠底片进行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空间解调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（Demodulation）与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插值重采样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，剥离出纯净的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单一视角图像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415531" y="2697353"/>
            <a:ext cx="219456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输出：</a:t>
            </a:r>
            <a:r>
              <a:rPr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→ psf_temp</a:t>
            </a:r>
            <a:r>
              <a:rPr 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(解复用、对齐后的单视角图像)。</a:t>
            </a:r>
            <a:endParaRPr lang="zh-CN" altLang="en-US" sz="12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9025890" y="484505"/>
            <a:ext cx="2606040" cy="278765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7"/>
            </p:custDataLst>
          </p:nvPr>
        </p:nvSpPr>
        <p:spPr>
          <a:xfrm>
            <a:off x="9254363" y="612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04</a:t>
            </a:r>
            <a:endParaRPr sz="11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9543288" y="612521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裁剪封装</a:t>
            </a:r>
            <a:endParaRPr sz="15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9226423" y="898525"/>
            <a:ext cx="2176272" cy="1742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  <a:buClrTx/>
              <a:buSzTx/>
              <a:buFontTx/>
            </a:pP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去除边缘无效黑边（规避边界截断效应），提取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中心有效视场</a:t>
            </a:r>
            <a:r>
              <a:rPr lang="zh-CN" alt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（255×255）。转为单精度浮点数（Single-precision）封装为 4D 张量</a:t>
            </a:r>
            <a:endParaRPr lang="zh-CN" altLang="en-US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9248013" y="2787523"/>
            <a:ext cx="219456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+mn-ea"/>
              </a:rPr>
              <a:t>输出：</a:t>
            </a:r>
            <a:r>
              <a:rPr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→ .mat</a:t>
            </a:r>
            <a:r>
              <a:rPr 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(最终交付的 4</a:t>
            </a:r>
            <a:r>
              <a:rPr lang="en-US" altLang="zh-CN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 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光场 </a:t>
            </a:r>
            <a:r>
              <a:rPr lang="en-US" altLang="zh-CN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PSF </a:t>
            </a:r>
            <a:r>
              <a:rPr lang="zh-CN" altLang="en-US" sz="12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算子)。</a:t>
            </a:r>
            <a:endParaRPr lang="zh-CN" altLang="en-US" sz="12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pic>
        <p:nvPicPr>
          <p:cNvPr id="25" name="Picture 24" descr="hz_z0_cent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45890" y="3527298"/>
            <a:ext cx="1051560" cy="105156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8522842" y="3687572"/>
            <a:ext cx="502920" cy="692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60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360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55495" y="4740910"/>
            <a:ext cx="4485005" cy="1423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H_z 原始底片</a:t>
            </a:r>
            <a:endParaRPr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空间复用导致的严重混叠（</a:t>
            </a:r>
            <a:r>
              <a:rPr lang="en-US" altLang="zh-CN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Spatial Aliasing）：225 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个视角（子孔径）的光场信息被</a:t>
            </a:r>
            <a:r>
              <a:rPr lang="zh-CN" altLang="en-US" sz="14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同时投影并叠加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在单一探测面上，形成高度的二维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混叠数据</a:t>
            </a:r>
            <a:r>
              <a:rPr lang="zh-CN" altLang="en-US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Multiplexed Raw Data）。</a:t>
            </a:r>
            <a:endParaRPr lang="en-US" altLang="zh-CN" sz="14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Picture 27" descr="psf_temp_z0_cent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3100" y="3527298"/>
            <a:ext cx="1051560" cy="105156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9784587" y="437972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86066" y="4804410"/>
            <a:ext cx="1325880" cy="538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psf_temp 对齐后</a:t>
            </a:r>
            <a:endParaRPr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30" descr="single_z0_cent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11690" y="3527298"/>
            <a:ext cx="1051560" cy="105156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9738487" y="4939030"/>
            <a:ext cx="1325880" cy="269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psf_z 最终张量</a:t>
            </a:r>
            <a:endParaRPr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0" y="6627749"/>
            <a:ext cx="544068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仿真输出 · 中央 61×61 px 裁剪 · H_z / psf_temp 线性，psf_z 对数</a:t>
            </a:r>
            <a:endParaRPr sz="12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535930" y="3641725"/>
            <a:ext cx="57150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60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endParaRPr lang="zh-CN" altLang="en-US" sz="360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= 0：15 × 15 视角点阵</a:t>
            </a:r>
            <a:endParaRPr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4" descr="mosaic_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" y="760730"/>
            <a:ext cx="4160520" cy="4291068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0490" y="5126863"/>
            <a:ext cx="448056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225 张 255×255 拼成的 Z=0 点阵 · 仿真（提亮显示）</a:t>
            </a:r>
            <a:endParaRPr sz="12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5100955" y="174498"/>
            <a:ext cx="3178152" cy="1031748"/>
          </a:xfrm>
          <a:prstGeom prst="roundRect">
            <a:avLst>
              <a:gd name="adj" fmla="val 7000"/>
            </a:avLst>
          </a:prstGeom>
          <a:solidFill>
            <a:srgbClr val="DDEE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312832" y="266618"/>
            <a:ext cx="2763611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中心视角峰值</a:t>
            </a:r>
            <a:endParaRPr sz="10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312832" y="506131"/>
            <a:ext cx="2763611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0E7C7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6.0 × 10⁴</a:t>
            </a:r>
            <a:endParaRPr sz="2400" b="1">
              <a:solidFill>
                <a:srgbClr val="0E7C7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8444924" y="174498"/>
            <a:ext cx="3150516" cy="1031748"/>
          </a:xfrm>
          <a:prstGeom prst="roundRect">
            <a:avLst>
              <a:gd name="adj" fmla="val 7000"/>
            </a:avLst>
          </a:prstGeom>
          <a:solidFill>
            <a:srgbClr val="F8E8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8656801" y="266618"/>
            <a:ext cx="2763611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角落视角峰值（↓ 25×）</a:t>
            </a:r>
            <a:endParaRPr sz="10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8656801" y="506131"/>
            <a:ext cx="2763611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A338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2.4 × 10³</a:t>
            </a:r>
            <a:endParaRPr sz="2400" b="1">
              <a:solidFill>
                <a:srgbClr val="A338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81805" y="1437005"/>
            <a:ext cx="7909560" cy="54216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【几何拓扑：完美解复用】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225 个子孔径（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Sub-apertures）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呈现严格的 15×15 空间网格排布，验证了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ReAlign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引擎在光场解复用（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Demultiplexing）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与空间坐标映射上的极高准确性。</a:t>
            </a:r>
            <a:endParaRPr lang="en-US" altLang="zh-CN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【形态学特征：平顶光斑】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中心视场光斑展宽约</a:t>
            </a:r>
            <a:r>
              <a:rPr lang="en-US" altLang="zh-CN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15×15 px（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对应一个微透镜 </a:t>
            </a:r>
            <a:r>
              <a:rPr lang="en-US" altLang="zh-CN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69μm 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的采样窗）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。由于方形微透镜孔径引发的傅里叶变换，其主瓣呈二维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Sinc</a:t>
            </a:r>
            <a:r>
              <a:rPr lang="en-US" altLang="zh-CN" sz="1600" b="0" baseline="3000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分布；</a:t>
            </a:r>
            <a:r>
              <a:rPr lang="zh-CN" altLang="en-US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叠加 </a:t>
            </a:r>
            <a:r>
              <a:rPr lang="en-US" altLang="zh-CN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OSR=5 </a:t>
            </a:r>
            <a:r>
              <a:rPr lang="zh-CN" altLang="en-US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的空间过采样，使得块内能量平坦度极高（</a:t>
            </a:r>
            <a:r>
              <a:rPr lang="en-US" altLang="zh-CN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CV≈0.11）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呈现显著的平顶（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Top-hat）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特征，而非传统的圆形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Airy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斑。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【能量分布：显著的边缘衰减】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中心视角峰值达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6.0×10</a:t>
            </a:r>
            <a:r>
              <a:rPr lang="en-US" altLang="zh-CN" sz="1600" b="0" baseline="3000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，而角落视角降至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2.4×10</a:t>
            </a:r>
            <a:r>
              <a:rPr lang="en-US" altLang="zh-CN" sz="1600" b="0" baseline="3000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1600" b="0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发生约 25 倍的能量衰减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）。这一视场衰减现象（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Roll-off）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的具体物理溯源将在后续页面详细拆解。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【数据解析准则】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本套 4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张量具有两大物理读取维度：沿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轴观察光斑的衍射形态演变（用于解算深度）；沿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X-Y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轴分析各子孔径的能量流强分布（用于辐射度校正）。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-128270" y="5588635"/>
            <a:ext cx="349948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8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这种平顶特征非常重要，它意味着在对焦面上，算法能接收到的空间频率信息非常平坦，</a:t>
            </a:r>
            <a:r>
              <a:rPr lang="zh-CN" altLang="en-US" sz="1600" b="0" i="0">
                <a:solidFill>
                  <a:srgbClr val="00B0F0"/>
                </a:solidFill>
                <a:latin typeface="quote-cjk-patch"/>
                <a:ea typeface="quote-cjk-patch"/>
              </a:rPr>
              <a:t>没有偏色或非均匀衰减</a:t>
            </a:r>
            <a:r>
              <a:rPr lang="zh-CN" altLang="en-US" sz="1600" b="0" i="0">
                <a:solidFill>
                  <a:srgbClr val="0F1115"/>
                </a:solidFill>
                <a:latin typeface="quote-cjk-patch"/>
                <a:ea typeface="quote-cjk-patch"/>
              </a:rPr>
              <a:t>。</a:t>
            </a:r>
            <a:endParaRPr lang="zh-CN" altLang="en-US" sz="1600" b="0" i="0">
              <a:solidFill>
                <a:srgbClr val="0F1115"/>
              </a:solidFill>
              <a:latin typeface="quote-cjk-patch"/>
              <a:ea typeface="quote-cjk-patch"/>
            </a:endParaRPr>
          </a:p>
        </p:txBody>
      </p:sp>
      <p:cxnSp>
        <p:nvCxnSpPr>
          <p:cNvPr id="17" name="直接箭头连接符 16"/>
          <p:cNvCxnSpPr>
            <a:stCxn id="16" idx="3"/>
          </p:cNvCxnSpPr>
          <p:nvPr/>
        </p:nvCxnSpPr>
        <p:spPr>
          <a:xfrm flipV="1">
            <a:off x="3371215" y="3997960"/>
            <a:ext cx="2103755" cy="2129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4445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如何改变光斑</a:t>
            </a:r>
            <a:endParaRPr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4" descr="single_zm100_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691640"/>
            <a:ext cx="2103120" cy="21031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325" y="3913632"/>
            <a:ext cx="210312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z = −100 µm</a:t>
            </a:r>
            <a:endParaRPr sz="20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7" name="Picture 6" descr="single_z0_center_s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05" y="1691640"/>
            <a:ext cx="2103120" cy="21031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300605" y="3913632"/>
            <a:ext cx="210312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z = 0</a:t>
            </a:r>
            <a:endParaRPr sz="20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pic>
        <p:nvPicPr>
          <p:cNvPr id="9" name="Picture 8" descr="single_zp100_ce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885" y="1691640"/>
            <a:ext cx="2103120" cy="21031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40885" y="3913632"/>
            <a:ext cx="210312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z = +100 µm</a:t>
            </a:r>
            <a:endParaRPr sz="20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145" y="4416552"/>
            <a:ext cx="658368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仿真输出 · 对数显示 · 同一色标 · 各为中央 61×61 px</a:t>
            </a:r>
            <a:endParaRPr sz="20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8015" y="1369060"/>
            <a:ext cx="5194300" cy="55937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【图像差异：三幅图哪里不一样？】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Z=0：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光斑受限于微透镜方形孔径，呈均匀的平顶方块（</a:t>
            </a:r>
            <a:r>
              <a:rPr lang="zh-CN" altLang="en-US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能量最集中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Z=±100μm：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方块崩溃，中心收缩为刺眼的高亮核，并</a:t>
            </a:r>
            <a:r>
              <a:rPr lang="zh-CN" altLang="en-US" sz="1600" b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向外延伸出巨大的十字形衍射臂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【物理机制：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是如何改变光斑的？】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∣Z∣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增大，</a:t>
            </a:r>
            <a:r>
              <a:rPr lang="zh-CN" altLang="en-US" sz="1600" b="0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离焦相位引入的光程差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导致光波发生剧烈的菲涅尔衍射。方形孔径的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Sinc</a:t>
            </a:r>
            <a:r>
              <a:rPr lang="en-US" altLang="zh-CN" sz="1600" b="0" baseline="3000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衍射旁瓣被极度放大（十字臂增强），同时光斑横向膨胀，跨越微透镜边界造成视场串扰（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Crosstalk）。</a:t>
            </a:r>
            <a:endParaRPr lang="en-US" altLang="zh-CN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重建意义：为何需要这种变化？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下游算法解算深度，不依赖绝对亮度，而是依赖形态指纹。算法正是通过匹配不同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层独有的“方块”或“十字星”形状，来反推物体的 3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30" y="5659755"/>
            <a:ext cx="672084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250" y="5825808"/>
            <a:ext cx="6309360" cy="6737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一句话：101 层就是 101 个“形状模板”。</a:t>
            </a:r>
            <a:endParaRPr sz="16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物体在哪个 z，它的光斑就最像哪一层的模板。</a:t>
            </a:r>
            <a:endParaRPr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435610"/>
            <a:ext cx="12192000" cy="9531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0F1115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【物理定义：</a:t>
            </a:r>
            <a:r>
              <a:rPr lang="en-US" altLang="zh-CN" sz="1600" b="0" i="0">
                <a:solidFill>
                  <a:srgbClr val="0F1115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 sz="1600" b="0" i="0">
                <a:solidFill>
                  <a:srgbClr val="0F1115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轴是什么？】</a:t>
            </a:r>
            <a:endParaRPr lang="zh-CN" altLang="en-US" sz="1600" b="0" i="0">
              <a:solidFill>
                <a:srgbClr val="0F1115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轴代表发光点偏离物镜理想对焦面的轴向距离（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Defocus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r>
              <a:rPr lang="en-US" altLang="zh-CN" sz="2000" b="0" i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=0 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为完美对焦面，</a:t>
            </a:r>
            <a:r>
              <a:rPr lang="en-US" altLang="zh-CN" sz="2000" b="0" i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=±100</a:t>
            </a:r>
            <a:r>
              <a:rPr lang="en-US" altLang="zh-CN" sz="2000" b="0" i="1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μm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为系统景深（</a:t>
            </a:r>
            <a:r>
              <a:rPr lang="en-US" altLang="zh-CN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DOF</a:t>
            </a:r>
            <a:r>
              <a:rPr lang="zh-CN" altLang="en-US" sz="2000" b="0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）的极限边缘。</a:t>
            </a:r>
            <a:endParaRPr lang="zh-CN" altLang="en-US" sz="2000" b="0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边缘视角：落差从哪来？</a:t>
            </a:r>
            <a:endParaRPr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Picture 4" descr="single_z0_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" y="904748"/>
            <a:ext cx="2331720" cy="23317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705" y="3355340"/>
            <a:ext cx="2331720" cy="690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中心视角 (8,8)：能量高度集中，形态完整。</a:t>
            </a:r>
            <a:endParaRPr lang="en-US" altLang="zh-CN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single_z0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593" y="904748"/>
            <a:ext cx="2331720" cy="23317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585593" y="3355340"/>
            <a:ext cx="2331720" cy="1384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  <a:buClrTx/>
              <a:buSzTx/>
              <a:buNone/>
            </a:pPr>
            <a:r>
              <a:rPr lang="zh-CN" altLang="en-US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角落视角 (1,1)：同一显示尺度(对数)下，发生严重的几何畸变与能量耗散。</a:t>
            </a:r>
            <a:endParaRPr lang="zh-CN" altLang="en-US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05220" y="905129"/>
          <a:ext cx="5815330" cy="1711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93392"/>
                <a:gridCol w="1993392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ReAlign 前</a:t>
                      </a:r>
                      <a:endParaRPr sz="18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ReAlign 后</a:t>
                      </a:r>
                      <a:endParaRPr sz="18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中心 (8,8)</a:t>
                      </a:r>
                      <a:endParaRPr sz="1800" b="0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7.75 × 10⁶</a:t>
                      </a:r>
                      <a:endParaRPr sz="18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1.05 × 10⁷</a:t>
                      </a:r>
                      <a:endParaRPr sz="18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角落 (1,1)</a:t>
                      </a:r>
                      <a:endParaRPr sz="1800" b="0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7.75 × 10⁶</a:t>
                      </a:r>
                      <a:endParaRPr sz="18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1.37 × 10⁵</a:t>
                      </a:r>
                      <a:endParaRPr sz="18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比值</a:t>
                      </a:r>
                      <a:endParaRPr sz="1800" b="1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1.00</a:t>
                      </a:r>
                      <a:endParaRPr sz="1800" b="1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0.013</a:t>
                      </a:r>
                      <a:endParaRPr sz="1800" b="1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35675" y="2924175"/>
            <a:ext cx="6172835" cy="3992245"/>
          </a:xfrm>
          <a:prstGeom prst="roundRect">
            <a:avLst>
              <a:gd name="adj" fmla="val 7000"/>
            </a:avLst>
          </a:prstGeom>
          <a:solidFill>
            <a:srgbClr val="F8E8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926080"/>
            <a:ext cx="6155690" cy="39446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【异常溯源：能量守恒与算法失真】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lang="zh-CN" altLang="en-US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前置归一化（</a:t>
            </a:r>
            <a:r>
              <a:rPr lang="en-US" altLang="zh-CN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 Normalization）：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为剥离真实物理渐晕（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Vignetting）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对算法排查的干扰，前向模型在生成原始底片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H_z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时，已对 225 个子孔径的能量进行了强制归一化处理（均为 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7.75×10</a:t>
            </a:r>
            <a:r>
              <a:rPr lang="en-US" altLang="zh-CN" sz="1600" b="0" baseline="30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en-US" altLang="zh-CN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lang="zh-CN" altLang="en-US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解复用损耗（</a:t>
            </a:r>
            <a:r>
              <a:rPr lang="en-US" altLang="zh-CN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Demultiplexing Loss）：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能量断层发生于 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ReAlign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重排阶段。由于边缘视角光斑存在巨大的像差拉伸与空间越界（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Cross-talk），ReAlign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固定的空间裁剪窗口（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Cropping Window）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无法完整包络其真实光斑边界，导致大量旁瓣能量被物理截断。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lang="zh-CN" altLang="en-US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插值误差累积（</a:t>
            </a:r>
            <a:r>
              <a:rPr lang="en-US" altLang="zh-CN" sz="1600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Interpolation Error）：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重采样过程中的空间坐标映射偏差，进一步加剧了边缘视场的能量扩散。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5986780"/>
            <a:ext cx="5760720" cy="871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仿真输出：中央 61×61 </a:t>
            </a:r>
            <a:r>
              <a:rPr lang="en-US" altLang="zh-CN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px </a:t>
            </a: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裁剪（对数标度）。在同一色标下，角落视角由于边缘视场的相变剧烈，仅剩微弱的高频轮廓。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峰值衰减 25 倍</a:t>
            </a: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积分能量骤降 76 倍</a:t>
            </a:r>
            <a:r>
              <a:rPr lang="zh-CN" altLang="en-US" sz="14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——数据直观揭示了明显的视场非均匀性。</a:t>
            </a:r>
            <a:endParaRPr lang="zh-CN" altLang="en-US" sz="14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728720" y="330835"/>
            <a:ext cx="3048000" cy="328168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-127" y="-1905"/>
            <a:ext cx="685800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极端离焦</a:t>
            </a:r>
            <a:r>
              <a:rPr lang="zh-CN" sz="32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32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网格与十字臂</a:t>
            </a:r>
            <a:endParaRPr sz="32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Picture 4" descr="hz_zp100_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613410"/>
            <a:ext cx="3017520" cy="30175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" y="3630930"/>
            <a:ext cx="3063240" cy="3077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= +100 µm 单视角原始底片（线性）：每个微透镜下都出现光斑</a:t>
            </a:r>
            <a:endParaRPr sz="1600" b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光斑不仅没有聚成一个点，反而扩散成了一个巨大的网格。原本应该只占一个格子的光，现在直接覆盖了 17×17 个微透镜的区域。这就是严重的</a:t>
            </a:r>
            <a:r>
              <a:rPr lang="zh-CN" altLang="en-US" b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视场串扰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Crosstalk），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single_zm100_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252855"/>
            <a:ext cx="2331720" cy="233172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238500" y="3630930"/>
            <a:ext cx="2930525" cy="2807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= −100 µm 角落视角（对数）</a:t>
            </a:r>
            <a:endParaRPr sz="1600" b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zh-CN" altLang="en-US" sz="18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因为这是最边缘的视角，加上极限离焦，光斑发生了严重的衍射和拉伸，变成了一个长条形的十字星。这也证实了：</a:t>
            </a:r>
            <a:r>
              <a:rPr lang="zh-CN" altLang="en-US" sz="1800" b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这不是镜头的像散（像差），而是方形微透镜自带的衍射指纹。</a:t>
            </a:r>
            <a:endParaRPr lang="zh-CN" altLang="en-US" sz="1800" b="0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7960" y="965200"/>
            <a:ext cx="5607050" cy="43554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结合这两张图，我们就能解释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P7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表格里的数据：</a:t>
            </a:r>
            <a:endParaRPr lang="zh-CN" altLang="en-US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回顾：在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Z=0 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时，角落视角的能量比中心视角暗了 </a:t>
            </a:r>
            <a:r>
              <a:rPr lang="zh-CN" altLang="en-US" b="0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倍。为什么？</a:t>
            </a:r>
            <a:endParaRPr lang="zh-CN" altLang="en-US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查原始底片 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H_z：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在最原始的物理计算中，</a:t>
            </a:r>
            <a:r>
              <a:rPr lang="zh-CN" altLang="en-US" b="0">
                <a:solidFill>
                  <a:srgbClr val="14232E"/>
                </a:solidFill>
                <a:highlight>
                  <a:srgbClr val="00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 225 个视角的能量是完全一模一样的（都是 </a:t>
            </a:r>
            <a:r>
              <a:rPr lang="en-US" altLang="zh-CN" b="0">
                <a:solidFill>
                  <a:srgbClr val="14232E"/>
                </a:solidFill>
                <a:highlight>
                  <a:srgbClr val="00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7.75×10</a:t>
            </a:r>
            <a:r>
              <a:rPr lang="en-US" altLang="zh-CN" b="0" baseline="30000">
                <a:solidFill>
                  <a:srgbClr val="14232E"/>
                </a:solidFill>
                <a:highlight>
                  <a:srgbClr val="00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b="0">
                <a:solidFill>
                  <a:srgbClr val="14232E"/>
                </a:solidFill>
                <a:highlight>
                  <a:srgbClr val="00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。这说明物理上根本没有暗角，没有渐晕。</a:t>
            </a:r>
            <a:endParaRPr lang="zh-CN" altLang="en-US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主因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ReAlign 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算法：左图（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P8），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 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Z=±100μm 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时光斑散得太大了（像网格一样铺满）。当 </a:t>
            </a:r>
            <a:r>
              <a:rPr lang="en-US" altLang="zh-CN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ReAlign 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算法用固定大小的窗口去把角落视角“抠”出来时，</a:t>
            </a:r>
            <a:r>
              <a:rPr lang="zh-CN" altLang="en-US" b="0">
                <a:solidFill>
                  <a:srgbClr val="14232E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光斑的边缘被切断了（截断效应）</a:t>
            </a:r>
            <a:r>
              <a:rPr lang="zh-CN" altLang="en-US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。大量扩散在外的能量，根本没被框进去，直接丢了。</a:t>
            </a:r>
            <a:endParaRPr lang="zh-CN" altLang="en-US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90123" y="2759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0F1115"/>
                </a:solidFill>
                <a:latin typeface="微软雅黑" panose="020B0503020204020204" charset="-122"/>
                <a:ea typeface="微软雅黑" panose="020B0503020204020204" charset="-122"/>
              </a:rPr>
              <a:t>利用光学衍射原理，排除了像差（像散）的嫌疑</a:t>
            </a:r>
            <a:endParaRPr lang="zh-CN" altLang="en-US" sz="1600" b="1" i="0">
              <a:solidFill>
                <a:srgbClr val="0F11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0" y="-18415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900" b="1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注入像差：0.30λ 把“平坦块”打散</a:t>
            </a:r>
            <a:endParaRPr sz="2900" b="1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1665"/>
            <a:ext cx="493776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200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005459"/>
            <a:ext cx="4892040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Zernike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多项式合成波前像差（包含像散、彗差、球差）。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将光瞳面的波前误差（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WFE）RMS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严格归一化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至0.30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λ；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与理想模型采用相同光学参数，完成 101 层全量仿真。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3065145"/>
            <a:ext cx="4937760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0E7C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2000" b="1">
              <a:solidFill>
                <a:srgbClr val="0E7C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3455289"/>
            <a:ext cx="4892040" cy="2393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焦面平顶（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Top-hat）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分布发生显著退化：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空间均匀性恶化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 0.11 升至 0.42）。这说明光波的波前畸变，导致了焦面能量的散乱。</a:t>
            </a: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zh-CN" altLang="en-US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能量发生重分布</a:t>
            </a:r>
            <a:r>
              <a:rPr lang="zh-CN" altLang="en-US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：主瓣峰值下降约 10%（0.92 → 0.83），能量向主瓣外围泄漏，形成明显的肩部旁瓣效应（</a:t>
            </a:r>
            <a:r>
              <a:rPr lang="en-US" altLang="zh-CN" sz="1600" b="0">
                <a:solidFill>
                  <a:srgbClr val="1423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Shoulder Effect）。</a:t>
            </a:r>
            <a:endParaRPr lang="en-US" altLang="zh-CN" sz="1600" b="0">
              <a:solidFill>
                <a:srgbClr val="1423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cmp_ideal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96280" y="621538"/>
            <a:ext cx="1828800" cy="182880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5704840" y="2505202"/>
            <a:ext cx="2011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 · z=0（仿真/对数）</a:t>
            </a:r>
            <a:endParaRPr sz="16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cmp_aber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62239" y="621538"/>
            <a:ext cx="1828800" cy="182880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7670800" y="2505202"/>
            <a:ext cx="2011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0.30λ · z=0（仿真/对数）</a:t>
            </a:r>
            <a:endParaRPr sz="16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phase_ma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28200" y="621538"/>
            <a:ext cx="1828800" cy="1828800"/>
          </a:xfrm>
          <a:prstGeom prst="rect">
            <a:avLst/>
          </a:prstGeom>
          <a:ln w="9525">
            <a:solidFill>
              <a:srgbClr val="DDD6C9"/>
            </a:solidFill>
          </a:ln>
        </p:spPr>
      </p:pic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9636760" y="2505202"/>
            <a:ext cx="2011680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68787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注入的波前（合成 Zernike）</a:t>
            </a:r>
            <a:endParaRPr sz="1600" b="0">
              <a:solidFill>
                <a:srgbClr val="68787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60720" y="3296285"/>
          <a:ext cx="5806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理想</a:t>
                      </a:r>
                      <a:endParaRPr sz="18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0.30λ</a:t>
                      </a:r>
                      <a:endParaRPr sz="18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1423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块内起伏 CV</a:t>
                      </a:r>
                      <a:endParaRPr sz="2000" b="0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0.11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0.42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中心 / 边缘</a:t>
                      </a:r>
                      <a:endParaRPr sz="2000" b="0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0.92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1.64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DDEE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423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角落 / 中心能量</a:t>
                      </a:r>
                      <a:endParaRPr sz="2000" b="0">
                        <a:solidFill>
                          <a:srgbClr val="1423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1.3%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4232E"/>
                          </a:solidFill>
                          <a:latin typeface="Consolas" panose="020B0609020204030204"/>
                          <a:ea typeface="Consolas" panose="020B0609020204030204"/>
                          <a:cs typeface="Consolas" panose="020B0609020204030204"/>
                        </a:rPr>
                        <a:t>1.4%</a:t>
                      </a:r>
                      <a:endParaRPr sz="2000" b="0">
                        <a:solidFill>
                          <a:srgbClr val="14232E"/>
                        </a:solidFill>
                        <a:latin typeface="Consolas" panose="020B0609020204030204"/>
                        <a:ea typeface="Consolas" panose="020B0609020204030204"/>
                        <a:cs typeface="Consolas" panose="020B0609020204030204"/>
                      </a:endParaRP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04840" y="5131435"/>
            <a:ext cx="6485890" cy="127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两张 PSF 均为中央 51×51 px、对数显示。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理想与 0.30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像差下，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角落/中心能量占比几乎不变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（1.3% 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1.4%）。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这直接证伪了 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P8 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中边缘能量衰减是由物理像差引起的假设——该落差确实是 </a:t>
            </a:r>
            <a:r>
              <a:rPr lang="en-US" altLang="zh-CN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ReAlign </a:t>
            </a:r>
            <a:r>
              <a:rPr lang="zh-CN" altLang="en-US" sz="16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重采样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算法产生的伪影。</a:t>
            </a:r>
            <a:endParaRPr lang="zh-CN" altLang="en-US"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2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3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4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5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6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7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8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9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0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1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2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3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4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5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6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7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8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19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20.xml><?xml version="1.0" encoding="utf-8"?>
<p:tagLst xmlns:p="http://schemas.openxmlformats.org/presentationml/2006/main">
  <p:tag name="KSO_WM_DIAGRAM_VIRTUALLY_FRAME" val="{&quot;height&quot;:219.5,&quot;left&quot;:43.25,&quot;top&quot;:38.15,&quot;width&quot;:880.99}"/>
</p:tagLst>
</file>

<file path=ppt/tags/tag21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2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3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4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5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6.xml><?xml version="1.0" encoding="utf-8"?>
<p:tagLst xmlns:p="http://schemas.openxmlformats.org/presentationml/2006/main">
  <p:tag name="KSO_WM_DIAGRAM_VIRTUALLY_FRAME" val="{&quot;height&quot;:81.24000000000001,&quot;left&quot;:401.65,&quot;top&quot;:13.740000000000009,&quot;width&quot;:512.75}"/>
</p:tagLst>
</file>

<file path=ppt/tags/tag27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ags/tag28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ags/tag29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ags/tag30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ags/tag31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ags/tag32.xml><?xml version="1.0" encoding="utf-8"?>
<p:tagLst xmlns:p="http://schemas.openxmlformats.org/presentationml/2006/main">
  <p:tag name="KSO_WM_DIAGRAM_VIRTUALLY_FRAME" val="{&quot;height&quot;:237.61999999999998,&quot;left&quot;:446.4,&quot;top&quot;:48.94000000000001,&quot;width&quot;:470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演示</Application>
  <PresentationFormat>On-screen Show (4:3)</PresentationFormat>
  <Paragraphs>255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quote-cjk-patch</vt:lpstr>
      <vt:lpstr>SWAstro</vt:lpstr>
      <vt:lpstr>katex_main</vt:lpstr>
      <vt:lpstr>KaTeX_Math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胡亚鑫</cp:lastModifiedBy>
  <cp:revision>27</cp:revision>
  <dcterms:created xsi:type="dcterms:W3CDTF">2013-01-27T09:14:00Z</dcterms:created>
  <dcterms:modified xsi:type="dcterms:W3CDTF">2026-10-22T07:05:29Z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218562369F1E4A0C8C18EF2DA7D34366_12</vt:lpwstr>
  </property>
  <property fmtid="{D5CDD505-2E9C-101B-9397-08002B2CF9AE}" pid="3" name="KSOProductBuildVer">
    <vt:lpwstr>2052-12.1.0.26373</vt:lpwstr>
  </property>
</Properties>
</file>